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263" r:id="rId3"/>
    <p:sldId id="264" r:id="rId4"/>
    <p:sldId id="265" r:id="rId5"/>
    <p:sldId id="266" r:id="rId6"/>
    <p:sldId id="258" r:id="rId7"/>
    <p:sldId id="257" r:id="rId8"/>
    <p:sldId id="259" r:id="rId9"/>
    <p:sldId id="260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3" autoAdjust="0"/>
    <p:restoredTop sz="76996" autoAdjust="0"/>
  </p:normalViewPr>
  <p:slideViewPr>
    <p:cSldViewPr snapToGrid="0">
      <p:cViewPr>
        <p:scale>
          <a:sx n="87" d="100"/>
          <a:sy n="87" d="100"/>
        </p:scale>
        <p:origin x="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43D9-CBE2-44F4-972C-22756D4D5A04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3D0E5-D41C-4C11-BB00-F3EA0FB23B92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9435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E-Pass ist ein elektronischer Reisepass, der zusätzlich zu den gedruckten Daten einen kontaktlosen RFID-Chip enthält.</a:t>
            </a:r>
            <a:br>
              <a:rPr lang="de-DE" dirty="0"/>
            </a:br>
            <a:r>
              <a:rPr lang="de-DE" dirty="0"/>
              <a:t>Dieser basiert auf dem internationalen Standard der ICAO, wodurch sichergestellt wird, dass Pässe weltweit einheitlich gelesen und überprüft werden können.</a:t>
            </a:r>
          </a:p>
          <a:p>
            <a:r>
              <a:rPr lang="de-DE" dirty="0"/>
              <a:t>Im Chip sind die Daten in einer sogenannten </a:t>
            </a:r>
            <a:r>
              <a:rPr lang="de-DE" i="1" dirty="0"/>
              <a:t>Logical Data </a:t>
            </a:r>
            <a:r>
              <a:rPr lang="de-DE" i="1" dirty="0" err="1"/>
              <a:t>Structure</a:t>
            </a:r>
            <a:r>
              <a:rPr lang="de-DE" dirty="0"/>
              <a:t>, also einer festen Struktur, organisiert.</a:t>
            </a:r>
            <a:br>
              <a:rPr lang="de-DE" dirty="0"/>
            </a:br>
            <a:r>
              <a:rPr lang="de-DE" dirty="0"/>
              <a:t>Dabei werden verschiedene Datengruppen unterschieden.</a:t>
            </a:r>
          </a:p>
          <a:p>
            <a:r>
              <a:rPr lang="de-DE" dirty="0"/>
              <a:t>Die wichtigsten sind DG1 mit den MRZ-Daten, also den klassischen Passinformationen, und DG2 mit dem Gesichtsbild, das verpflichtend ist.</a:t>
            </a:r>
            <a:br>
              <a:rPr lang="de-DE" dirty="0"/>
            </a:br>
            <a:r>
              <a:rPr lang="de-DE" dirty="0"/>
              <a:t>Zusätzlich können auch Fingerabdrücke oder Irisdaten gespeichert werden, die aber stärker geschützt sind.</a:t>
            </a:r>
          </a:p>
          <a:p>
            <a:r>
              <a:rPr lang="de-DE" dirty="0"/>
              <a:t>Ganz wichtig ist das sogenannte EF.SOD – das ist eine digitale Signatur.</a:t>
            </a:r>
            <a:br>
              <a:rPr lang="de-DE" dirty="0"/>
            </a:br>
            <a:r>
              <a:rPr lang="de-DE" dirty="0"/>
              <a:t>Sie ermöglicht es, zu überprüfen, ob die Daten im Chip seit der Ausstellung verändert wurden.</a:t>
            </a:r>
          </a:p>
          <a:p>
            <a:endParaRPr lang="de-DE" dirty="0"/>
          </a:p>
          <a:p>
            <a:r>
              <a:rPr lang="de-DE" dirty="0"/>
              <a:t>Das bedeutet: Der Chip speichert die Daten nicht nur strukturiert, sondern auch signiert – und genau dadurch kann man Manipulation erkennen.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6712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Damit diese sensiblen Daten geschützt sind, nutzt der E-Pass mehrere Sicherheitsschichten.</a:t>
            </a:r>
          </a:p>
          <a:p>
            <a:r>
              <a:rPr lang="de-DE" dirty="0"/>
              <a:t>Die erste Schicht ist der Zugriffsschutz, zum Beispiel durch BAC oder PACE.</a:t>
            </a:r>
            <a:br>
              <a:rPr lang="de-DE" dirty="0"/>
            </a:br>
            <a:r>
              <a:rPr lang="de-DE" dirty="0"/>
              <a:t>Dabei wird ein verschlüsselter Kanal aufgebaut, sodass der Chip nicht einfach ausgelesen werden kann.</a:t>
            </a:r>
          </a:p>
          <a:p>
            <a:r>
              <a:rPr lang="de-DE" dirty="0"/>
              <a:t>Danach folgt die sogenannte Passive Authentication.</a:t>
            </a:r>
            <a:br>
              <a:rPr lang="de-DE" dirty="0"/>
            </a:br>
            <a:r>
              <a:rPr lang="de-DE" dirty="0"/>
              <a:t>Hier wird die digitale Signatur überprüft, um sicherzustellen, dass die Daten echt und unverändert sind.</a:t>
            </a:r>
          </a:p>
          <a:p>
            <a:r>
              <a:rPr lang="de-DE" dirty="0"/>
              <a:t>Die dritte Schicht ist die Terminal Authentication.</a:t>
            </a:r>
            <a:br>
              <a:rPr lang="de-DE" dirty="0"/>
            </a:br>
            <a:r>
              <a:rPr lang="de-DE" dirty="0"/>
              <a:t>Sie sorgt dafür, dass nur autorisierte Lesegeräte auf besonders sensible Daten wie Fingerabdrücke zugreifen dürfen.</a:t>
            </a:r>
          </a:p>
          <a:p>
            <a:r>
              <a:rPr lang="de-DE" dirty="0"/>
              <a:t>Diese Schritte laufen immer in einer bestimmten Reihenfolge ab:</a:t>
            </a:r>
            <a:br>
              <a:rPr lang="de-DE" dirty="0"/>
            </a:br>
            <a:r>
              <a:rPr lang="de-DE" dirty="0"/>
              <a:t>Zuerst wird der Zugriff gesichert, dann werden die Daten geprüft und anschließend wird entschieden, ob ein Gerät Zugriff bekommt.</a:t>
            </a:r>
          </a:p>
          <a:p>
            <a:r>
              <a:rPr lang="de-DE" dirty="0"/>
              <a:t>Trotzdem gibt es auch Schwachstellen.</a:t>
            </a:r>
            <a:br>
              <a:rPr lang="de-DE" dirty="0"/>
            </a:br>
            <a:r>
              <a:rPr lang="de-DE" dirty="0"/>
              <a:t>Zum Beispiel kann ein Chip theoretisch kopiert werden, wenn keine zusätzlichen Schutzmechanismen eingesetzt werden.</a:t>
            </a:r>
            <a:br>
              <a:rPr lang="de-DE" dirty="0"/>
            </a:br>
            <a:r>
              <a:rPr lang="de-DE" dirty="0"/>
              <a:t>Außerdem hängt die tatsächliche Sicherheit stark davon ab, wie gut das System in der Praxis umgesetzt ist.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046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EEF06-6BD2-D7E5-0D3C-620CD62B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7758EE8-F1B5-6B75-DAD2-FD821BFEE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3DAE4F-A08F-60E8-9591-464C8C342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Hier sieht man den ersten Teil der Simulation. Zuerst wurden die MRZ-Daten aus dem Pass verwendet. Diese enthalten wichtige Informationen und dienen als Grundlage für den Zugriff auf den Chip.</a:t>
            </a:r>
            <a:endParaRPr lang="en-US"/>
          </a:p>
          <a:p>
            <a:r>
              <a:rPr lang="de-DE"/>
              <a:t>Mit diesen Daten wird die Basic Access Control durchgeführt. Sie sorgt dafür, dass nur autorisierte Geräte den Chip auslesen können, indem eine sichere Verbindung aufgebaut wird.</a:t>
            </a:r>
          </a:p>
          <a:p>
            <a:r>
              <a:rPr lang="de-DE"/>
              <a:t>Danach folgt die Passive Authentication. Hier wird überprüft, ob die Daten im Chip echt sind und nicht verändert wurden. Das passiert mithilfe von digitalen Signaturen und Hashwerten.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914397-A554-6658-774E-CEAAED89B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8101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F84C-29AD-EB68-DC58-2C886D84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BC6684-4601-5DA7-49B6-EDFB2886D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6E0DB9-BC1C-07B5-DEC0-765EFCB11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Die Chip Authentication sorgt dafür, dass eine noch sicherere Verbindung aufgebaut wird. Dabei tauschen Chip und Lesegerät kryptografische Schlüssel aus.</a:t>
            </a:r>
            <a:endParaRPr lang="en-US"/>
          </a:p>
          <a:p>
            <a:r>
              <a:rPr lang="de-DE"/>
              <a:t>Danach kommt die </a:t>
            </a:r>
            <a:r>
              <a:rPr lang="de-DE" err="1"/>
              <a:t>Active</a:t>
            </a:r>
            <a:r>
              <a:rPr lang="de-DE"/>
              <a:t> Authentication. Hier wird überprüft, ob der Chip wirklich original ist und nicht kopiert wurde. Das passiert mit einem Challenge-Response-Verfahren.</a:t>
            </a:r>
          </a:p>
          <a:p>
            <a:r>
              <a:rPr lang="de-DE"/>
              <a:t>Zusammen zeigen diese Schritte, dass mehrere Sicherheitsmechanismen gleichzeitig arbeiten. Dadurch wird der E-Pass sehr gut geschützt und kann sicher im Alltag eingesetzt werden.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0B15E2-3D85-D3D7-0B64-A6E8FF7D4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59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Erwähnen</a:t>
            </a:r>
            <a:r>
              <a:rPr lang="en-US" dirty="0"/>
              <a:t> </a:t>
            </a:r>
            <a:r>
              <a:rPr lang="en-US" dirty="0" err="1"/>
              <a:t>Fingerabdruck</a:t>
            </a:r>
            <a:r>
              <a:rPr lang="en-US" dirty="0"/>
              <a:t>-Spoofing und PKI </a:t>
            </a:r>
            <a:r>
              <a:rPr lang="en-US" dirty="0" err="1"/>
              <a:t>Infrastruktur</a:t>
            </a:r>
            <a:r>
              <a:rPr lang="en-US" dirty="0"/>
              <a:t> </a:t>
            </a:r>
            <a:r>
              <a:rPr lang="en-US" dirty="0" err="1"/>
              <a:t>Schwachstelle</a:t>
            </a:r>
            <a:r>
              <a:rPr lang="en-US" dirty="0"/>
              <a:t>, </a:t>
            </a:r>
            <a:r>
              <a:rPr lang="en-US" dirty="0" err="1"/>
              <a:t>seltener</a:t>
            </a:r>
            <a:r>
              <a:rPr lang="en-US" dirty="0"/>
              <a:t> </a:t>
            </a:r>
            <a:r>
              <a:rPr lang="en-US" dirty="0" err="1"/>
              <a:t>jedoch</a:t>
            </a:r>
            <a:r>
              <a:rPr lang="en-US" dirty="0"/>
              <a:t> </a:t>
            </a:r>
            <a:r>
              <a:rPr lang="en-US" dirty="0" err="1"/>
              <a:t>immernoch</a:t>
            </a:r>
            <a:r>
              <a:rPr lang="en-US" dirty="0"/>
              <a:t> reales Problem an </a:t>
            </a:r>
            <a:r>
              <a:rPr lang="en-US" dirty="0" err="1"/>
              <a:t>bestimmten</a:t>
            </a:r>
            <a:r>
              <a:rPr lang="en-US" dirty="0"/>
              <a:t> </a:t>
            </a:r>
            <a:r>
              <a:rPr lang="en-US" dirty="0" err="1"/>
              <a:t>Grenzübergängen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F92D-E2AC-FA2D-8425-9C6938858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E2E866-06CF-4B8D-8BCC-3AB7F5580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EA8D39C-2C1F-74D8-29BC-C8E621820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DD790D-209E-346A-C4C2-E5ADA603E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6893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F6D0-5173-4260-775E-474C093F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6B11B6-08BD-A833-4197-66A924DBF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76BDA4-E7CD-7030-F2BA-CF1366EF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3734F5-990E-3CBA-EF80-3773E2692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3273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590E-12DE-BED9-3038-7F20E3B6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26406D-CEE7-A6F0-F741-BF3C7780D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0B13C9D-7A64-8235-42E6-970A60639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0681F4-4707-9A76-7579-68443F0B7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3D0E5-D41C-4C11-BB00-F3EA0FB23B92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7389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59115B-C747-CA5E-31A0-80433B8DC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419250-87FA-0E5B-503D-62656FE85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F73EC1-6E80-7D24-12B1-969BCEF7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83D078-B453-363B-AAAC-2840051F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785C0B-A08C-A657-6659-1FABD4A1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910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EC7578-047E-8729-AB88-30015908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FBD78F-609E-282C-EF5B-39EBB6DCB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8F5D28-07B8-B80C-DEE3-3EAB19BF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DFD4EA-3896-921D-2DFE-62D57B17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A94E34-A75A-660B-ABCA-B8BE1F89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62339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683F-0390-6165-AC69-8B53E416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9236A4-1515-951C-AB6E-6E5721F95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A03B02-57AA-3A13-2AF5-2AFB9F47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BA2D72-0FB3-1790-1492-84960937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EED670-9FAC-CDBB-30F3-BA801EE0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689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4668DB-7E40-2123-F3C6-BA8C52787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A26061-D27F-CD5B-C3E9-0A60D9252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2547A-FB65-15BD-5804-CFC6BC2CF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8773BB-6C2D-2B9B-0330-4AC67D87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43BEDC-55F8-A9DC-7D18-E7F79C4A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97AA6E-1338-4AA1-FE08-5D5B49D7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748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73A86-8D67-C653-D00B-8FB92E61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7603C9-C60A-EF88-2EB6-9D7023ED0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528862-DAD4-1FBF-0E18-D6686D1BD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1D302B-A1A3-BF92-4BFC-36AE62E60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DCE06F-4E10-B10F-8CBD-DA7F4AEC3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36B21F5-AB4E-0D13-50F0-235BECB7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89125F-145F-95DE-ED6E-D4B728EC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E09FAC0-2CAC-21FC-A3E0-6E1D9758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44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C3AA0-F87A-AC9F-52A8-20CE57CF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C03E2F-5D5B-B073-79FD-3382049D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E31749-91B1-1E95-AD03-3D4C43C24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CD6E31-DC7D-210A-9517-97F17712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8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E3F430-D88F-07BB-7054-B6DD4B91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84391E-2E26-ED2E-A644-7EC8001E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B4F9E6-3152-2C1F-B4B5-BFDD210E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484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799A8-43A7-64B0-736F-20AC6D40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D6596-3760-5102-6945-78C0DC58F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757D09-9A89-103C-3E5D-0BBC4426B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1B8BC4-8B11-88EA-0517-1CD3B116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746A88-502C-CC89-E46B-53D985E0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065251-97E8-A1E1-97A8-7712400C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163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7346E-6129-2CD3-6CC6-E3D7B991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0C477C8-56F0-7DB4-F7C1-52C32F77D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D89573-1728-864F-6F70-90E1012DF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A869F3-F5A9-5810-579D-6DA65805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5B5BC6-F717-7CFF-C8ED-35976023E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A39E3E-FE0E-B60F-399D-011CABE9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6808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30035-068E-8405-4002-A80E8D44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D0A64E-0FDF-7416-9491-B43787BD6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844C5B-6882-B7C7-330B-CCB1AFC9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49D499-1DA7-0FAD-F0AE-9F1DEF31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7CC39-5A12-0AB0-0E04-B74F3EA1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701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66D8C14-AD8B-9F88-B98C-DF3839ED0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2023B9-976F-EA9D-C099-7C94A6F13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D4CC2B-B916-04F6-3F6E-438A8302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B3A95C-411C-136C-60DA-EF55A4AB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24BC4A-40CC-BC7A-E96B-6E9AD375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37290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72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1668B5B-F3B9-BA82-EDA9-F23A85B9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302A12-CF05-7DD6-2136-38011056F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557DF9-CF02-A6A5-6C70-F717351D6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D5CC5-7343-46BC-9D26-8379BD961E90}" type="datetimeFigureOut">
              <a:rPr lang="de-CH" smtClean="0"/>
              <a:t>12.04.26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E9E2A-FC54-FA78-012F-25610A010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C4C5D-9605-BC13-D1D6-41D79D4EF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013E2-770B-4BBE-9EE6-7B8D2945D9B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153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Grafik 3" descr="Ein Bild, das Entwurf, Kreis, Grafiken, Logo enthält.&#10;&#10;KI-generierte Inhalte können fehlerhaft sein.">
            <a:extLst>
              <a:ext uri="{FF2B5EF4-FFF2-40B4-BE49-F238E27FC236}">
                <a16:creationId xmlns:a16="http://schemas.microsoft.com/office/drawing/2014/main" id="{28040C36-DB22-08D1-ED2E-ABD5DC096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73" b="17518"/>
          <a:stretch>
            <a:fillRect/>
          </a:stretch>
        </p:blipFill>
        <p:spPr>
          <a:xfrm>
            <a:off x="762020" y="0"/>
            <a:ext cx="10357594" cy="463973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2F39275-A117-FE6E-4BBE-8F4CC27F5D8C}"/>
              </a:ext>
            </a:extLst>
          </p:cNvPr>
          <p:cNvSpPr txBox="1"/>
          <p:nvPr/>
        </p:nvSpPr>
        <p:spPr>
          <a:xfrm>
            <a:off x="1490134" y="4978398"/>
            <a:ext cx="92625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4000" b="1" dirty="0">
                <a:latin typeface="Arial" panose="020B0604020202020204" pitchFamily="34" charset="0"/>
                <a:cs typeface="Arial" panose="020B0604020202020204" pitchFamily="34" charset="0"/>
              </a:rPr>
              <a:t>Lab A/B: Aufbau eines Labs zum Thema E-Pass Authentifizierung</a:t>
            </a:r>
            <a:endParaRPr lang="de-CH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6F5ED-4437-0013-FD28-CA273E35E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7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E-Pass Standard – Grundlagen &amp; Datenstruktur</a:t>
            </a:r>
            <a:endParaRPr lang="de-CH" sz="347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16BC2F-0825-24F3-E35D-459C5F46A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287" y="1825625"/>
            <a:ext cx="5906513" cy="4351338"/>
          </a:xfrm>
        </p:spPr>
        <p:txBody>
          <a:bodyPr>
            <a:normAutofit/>
          </a:bodyPr>
          <a:lstStyle/>
          <a:p>
            <a:r>
              <a:rPr lang="de-DE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Elektronischer Reisepass mit RFID-Chip</a:t>
            </a:r>
          </a:p>
          <a:p>
            <a:r>
              <a:rPr lang="de-DE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Standard: </a:t>
            </a:r>
          </a:p>
          <a:p>
            <a:pPr lvl="1"/>
            <a:r>
              <a:rPr lang="de-DE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Internationale Zivilluftfahrorganisation (ICAO) –             Doc 9303</a:t>
            </a:r>
          </a:p>
          <a:p>
            <a:r>
              <a:rPr lang="de-DE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Ziel:</a:t>
            </a:r>
          </a:p>
          <a:p>
            <a:pPr lvl="1"/>
            <a:r>
              <a:rPr lang="de-DE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weltweite Interoperabilität</a:t>
            </a:r>
          </a:p>
          <a:p>
            <a:pPr lvl="1"/>
            <a:r>
              <a:rPr lang="de-DE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Höhere Sicherheit / Fälschungssicherheit</a:t>
            </a:r>
          </a:p>
          <a:p>
            <a:endParaRPr lang="de-DE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27A05F-5DD2-6198-592C-0EC509A55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906513" cy="4351338"/>
          </a:xfrm>
        </p:spPr>
        <p:txBody>
          <a:bodyPr>
            <a:normAutofit/>
          </a:bodyPr>
          <a:lstStyle/>
          <a:p>
            <a:r>
              <a:rPr lang="de-DE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Datenstruktur (LDS)</a:t>
            </a:r>
          </a:p>
          <a:p>
            <a:pPr lvl="1"/>
            <a:r>
              <a:rPr lang="de-DE" sz="17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 LDS teilt die Inhalte in Datenbereiche (Data Groups)</a:t>
            </a:r>
          </a:p>
          <a:p>
            <a:endParaRPr lang="de-DE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CH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CH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CH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CH" sz="2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CH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7827AF1-AA85-4719-A8C2-579B0EA5D0C8}"/>
              </a:ext>
            </a:extLst>
          </p:cNvPr>
          <p:cNvCxnSpPr/>
          <p:nvPr/>
        </p:nvCxnSpPr>
        <p:spPr>
          <a:xfrm>
            <a:off x="5923370" y="1189529"/>
            <a:ext cx="0" cy="552686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E6AC4C0-1B17-EB0F-65CB-A8F27F66DDAA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CAO (International Civil Aviation Organization) | MPTF Office">
            <a:extLst>
              <a:ext uri="{FF2B5EF4-FFF2-40B4-BE49-F238E27FC236}">
                <a16:creationId xmlns:a16="http://schemas.microsoft.com/office/drawing/2014/main" id="{3EADA923-44B0-0E76-F769-B161C06F9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16" y="4754108"/>
            <a:ext cx="3379599" cy="122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D2E6FD7-9029-9C26-3C1D-9F30E8BFF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675101"/>
            <a:ext cx="6095999" cy="329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E7F-5DF4-4DC4-4EC8-C8E11E6E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734A1-AC6E-0F68-25E7-1EF574D3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7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E-Pass Standard – Sicherheitsmechanismen</a:t>
            </a:r>
            <a:endParaRPr lang="de-CH" sz="347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75FC39F-7CB7-A5A5-BFD7-588AF3393496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E95164B2-E4A3-5F78-BC9E-F92D8AD39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538" y="1220849"/>
            <a:ext cx="9714923" cy="5451034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23924F6-7720-70A0-58DF-6A9BC7E8DFB7}"/>
              </a:ext>
            </a:extLst>
          </p:cNvPr>
          <p:cNvCxnSpPr>
            <a:cxnSpLocks/>
          </p:cNvCxnSpPr>
          <p:nvPr/>
        </p:nvCxnSpPr>
        <p:spPr>
          <a:xfrm>
            <a:off x="178025" y="2917179"/>
            <a:ext cx="0" cy="3754704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E27329D-E220-5A6B-C4CE-4FBD1ADAE7A7}"/>
              </a:ext>
            </a:extLst>
          </p:cNvPr>
          <p:cNvCxnSpPr>
            <a:cxnSpLocks/>
          </p:cNvCxnSpPr>
          <p:nvPr/>
        </p:nvCxnSpPr>
        <p:spPr>
          <a:xfrm rot="5400000">
            <a:off x="10123136" y="4853873"/>
            <a:ext cx="0" cy="3754704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39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4947-BF8F-8C0A-412B-28C2CE33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0C348-E615-B3CE-DA72-9A72A3C0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50" b="1">
                <a:latin typeface="Calibri"/>
                <a:ea typeface="Calibri"/>
                <a:cs typeface="Calibri"/>
              </a:rPr>
              <a:t>Simulation der Authentifizierungsschritte</a:t>
            </a:r>
            <a:endParaRPr lang="de-CH" sz="3450" b="1">
              <a:latin typeface="Calibri"/>
              <a:ea typeface="Calibri"/>
              <a:cs typeface="Calibri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733896-AB16-FB42-60F1-EF51955BD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2236" y="1715845"/>
            <a:ext cx="590651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>
                <a:ea typeface="+mn-lt"/>
                <a:cs typeface="+mn-lt"/>
              </a:rPr>
              <a:t>🔑 </a:t>
            </a:r>
            <a:r>
              <a:rPr lang="de-DE" sz="2400" b="1">
                <a:ea typeface="+mn-lt"/>
                <a:cs typeface="+mn-lt"/>
              </a:rPr>
              <a:t>BAC </a:t>
            </a:r>
            <a:r>
              <a:rPr lang="de-DE" sz="2400">
                <a:ea typeface="+mn-lt"/>
                <a:cs typeface="+mn-lt"/>
              </a:rPr>
              <a:t>(Basic Access Control)</a:t>
            </a:r>
            <a:endParaRPr lang="de-DE" sz="2400">
              <a:latin typeface="Apto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de-DE" sz="1800">
                <a:ea typeface="+mn-lt"/>
                <a:cs typeface="+mn-lt"/>
              </a:rPr>
              <a:t>Erstes Sicherheitslevel</a:t>
            </a:r>
            <a:endParaRPr lang="de-DE" sz="1800"/>
          </a:p>
          <a:p>
            <a:pPr lvl="1"/>
            <a:r>
              <a:rPr lang="de-DE" sz="1800">
                <a:latin typeface="Aptos"/>
                <a:ea typeface="Calibri"/>
                <a:cs typeface="Calibri"/>
              </a:rPr>
              <a:t>Baut eine </a:t>
            </a:r>
            <a:r>
              <a:rPr lang="de-DE" sz="1800" b="1">
                <a:latin typeface="Aptos"/>
                <a:ea typeface="Calibri"/>
                <a:cs typeface="Calibri"/>
              </a:rPr>
              <a:t>geschützte Verbindung </a:t>
            </a:r>
            <a:r>
              <a:rPr lang="de-DE" sz="1800">
                <a:latin typeface="Aptos"/>
                <a:ea typeface="Calibri"/>
                <a:cs typeface="Calibri"/>
              </a:rPr>
              <a:t>auf</a:t>
            </a:r>
            <a:endParaRPr lang="de-DE" sz="1800">
              <a:latin typeface="Apto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de-DE" sz="1800">
                <a:latin typeface="Aptos"/>
                <a:ea typeface="Calibri"/>
                <a:cs typeface="Calibri"/>
              </a:rPr>
              <a:t>Verhindert unbefugtes Auslesen</a:t>
            </a:r>
          </a:p>
          <a:p>
            <a:pPr lvl="1"/>
            <a:endParaRPr lang="de-DE" sz="1800">
              <a:latin typeface="Aptos"/>
              <a:ea typeface="Calibri"/>
              <a:cs typeface="Calibri"/>
            </a:endParaRPr>
          </a:p>
          <a:p>
            <a:pPr lvl="1"/>
            <a:endParaRPr lang="de-DE" sz="1800">
              <a:ea typeface="Calibri"/>
              <a:cs typeface="Calibri"/>
            </a:endParaRPr>
          </a:p>
          <a:p>
            <a:pPr lvl="1"/>
            <a:endParaRPr lang="de-DE" sz="1800">
              <a:ea typeface="Calibri"/>
              <a:cs typeface="Calibri"/>
            </a:endParaRPr>
          </a:p>
          <a:p>
            <a:r>
              <a:rPr lang="de-DE" sz="2400">
                <a:ea typeface="+mn-lt"/>
                <a:cs typeface="+mn-lt"/>
              </a:rPr>
              <a:t>✔️ </a:t>
            </a:r>
            <a:r>
              <a:rPr lang="de-DE" sz="2400" b="1">
                <a:ea typeface="+mn-lt"/>
                <a:cs typeface="+mn-lt"/>
              </a:rPr>
              <a:t>PA </a:t>
            </a:r>
            <a:r>
              <a:rPr lang="de-DE" sz="2400">
                <a:ea typeface="+mn-lt"/>
                <a:cs typeface="+mn-lt"/>
              </a:rPr>
              <a:t>(Passive Authentication):</a:t>
            </a:r>
            <a:endParaRPr lang="de-DE" sz="2400" b="1">
              <a:latin typeface="Calibri"/>
              <a:ea typeface="Calibri"/>
              <a:cs typeface="Calibri"/>
            </a:endParaRPr>
          </a:p>
          <a:p>
            <a:pPr lvl="1"/>
            <a:r>
              <a:rPr lang="de-DE" sz="1800">
                <a:latin typeface="Calibri"/>
                <a:ea typeface="Calibri"/>
                <a:cs typeface="Calibri"/>
              </a:rPr>
              <a:t>Prüft, ob Daten </a:t>
            </a:r>
            <a:r>
              <a:rPr lang="de-DE" sz="1800" b="1">
                <a:latin typeface="Calibri"/>
                <a:ea typeface="Calibri"/>
                <a:cs typeface="Calibri"/>
              </a:rPr>
              <a:t>echt und unverändert </a:t>
            </a:r>
            <a:r>
              <a:rPr lang="de-DE" sz="1800">
                <a:latin typeface="Calibri"/>
                <a:ea typeface="Calibri"/>
                <a:cs typeface="Calibri"/>
              </a:rPr>
              <a:t>sind</a:t>
            </a:r>
            <a:endParaRPr lang="de-DE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de-DE" sz="1800">
                <a:latin typeface="Calibri"/>
                <a:ea typeface="Calibri"/>
                <a:cs typeface="Calibri"/>
              </a:rPr>
              <a:t>Nutzung von </a:t>
            </a:r>
            <a:r>
              <a:rPr lang="de-DE" sz="1800" b="1">
                <a:latin typeface="Calibri"/>
                <a:ea typeface="Calibri"/>
                <a:cs typeface="Calibri"/>
              </a:rPr>
              <a:t>Signaturen &amp; Hashwerten</a:t>
            </a:r>
            <a:endParaRPr lang="de-DE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730B6A3-8A53-3850-B2D1-ABD5CB8AC44E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Passeport biométrique - République et canton de Neuchâtel">
            <a:extLst>
              <a:ext uri="{FF2B5EF4-FFF2-40B4-BE49-F238E27FC236}">
                <a16:creationId xmlns:a16="http://schemas.microsoft.com/office/drawing/2014/main" id="{C54E422F-44C3-82A5-AE3D-70B34AD9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47116" y="1214763"/>
            <a:ext cx="3808226" cy="535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4626-6E3A-3FB5-0061-A4FF89C9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CA5ED2-B478-EA43-7FF2-4B6AC540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50" b="1">
                <a:ea typeface="+mj-lt"/>
                <a:cs typeface="+mj-lt"/>
              </a:rPr>
              <a:t>Erweiterte Sicherheit</a:t>
            </a:r>
            <a:endParaRPr lang="en-US" b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D9041B-2AEF-7638-CFDA-912CEDB84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3050" y="1715845"/>
            <a:ext cx="590651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400">
                <a:ea typeface="+mn-lt"/>
                <a:cs typeface="+mn-lt"/>
              </a:rPr>
              <a:t>🔐 </a:t>
            </a:r>
            <a:r>
              <a:rPr lang="de-DE" sz="2400" b="1">
                <a:ea typeface="+mn-lt"/>
                <a:cs typeface="+mn-lt"/>
              </a:rPr>
              <a:t>CA</a:t>
            </a:r>
            <a:r>
              <a:rPr lang="de-DE" sz="2400">
                <a:ea typeface="+mn-lt"/>
                <a:cs typeface="+mn-lt"/>
              </a:rPr>
              <a:t> (Chip Authentication)</a:t>
            </a:r>
            <a:endParaRPr lang="de-DE" sz="2400">
              <a:ea typeface="Calibri"/>
              <a:cs typeface="Calibri"/>
            </a:endParaRPr>
          </a:p>
          <a:p>
            <a:pPr lvl="1"/>
            <a:r>
              <a:rPr lang="de-DE" sz="1800"/>
              <a:t>Moderner Sicherheitsmechanismus</a:t>
            </a:r>
          </a:p>
          <a:p>
            <a:pPr lvl="1"/>
            <a:r>
              <a:rPr lang="de-DE" sz="1800" b="1">
                <a:latin typeface="Aptos"/>
                <a:ea typeface="Calibri"/>
                <a:cs typeface="Calibri"/>
              </a:rPr>
              <a:t>Schlüsselaustausch </a:t>
            </a:r>
            <a:r>
              <a:rPr lang="de-DE" sz="1800">
                <a:latin typeface="Aptos"/>
                <a:ea typeface="Calibri"/>
                <a:cs typeface="Calibri"/>
              </a:rPr>
              <a:t>zwischen Chip &amp; Leser</a:t>
            </a:r>
            <a:endParaRPr lang="de-DE" sz="1800">
              <a:latin typeface="Apto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de-DE" sz="1800">
                <a:latin typeface="Aptos"/>
                <a:ea typeface="Calibri"/>
                <a:cs typeface="Calibri"/>
              </a:rPr>
              <a:t>Neue, sichere Verbindung</a:t>
            </a:r>
          </a:p>
          <a:p>
            <a:pPr lvl="1"/>
            <a:endParaRPr lang="de-DE" sz="1800">
              <a:latin typeface="Aptos"/>
              <a:ea typeface="Calibri"/>
              <a:cs typeface="Calibri"/>
            </a:endParaRPr>
          </a:p>
          <a:p>
            <a:pPr lvl="1"/>
            <a:endParaRPr lang="de-DE" sz="1800">
              <a:ea typeface="Calibri"/>
              <a:cs typeface="Calibri"/>
            </a:endParaRPr>
          </a:p>
          <a:p>
            <a:pPr lvl="1"/>
            <a:endParaRPr lang="de-DE" sz="1800">
              <a:ea typeface="Calibri"/>
              <a:cs typeface="Calibri"/>
            </a:endParaRPr>
          </a:p>
          <a:p>
            <a:r>
              <a:rPr lang="de-DE" sz="2400">
                <a:ea typeface="+mn-lt"/>
                <a:cs typeface="+mn-lt"/>
              </a:rPr>
              <a:t>🔄 </a:t>
            </a:r>
            <a:r>
              <a:rPr lang="de-DE" sz="2400" b="1">
                <a:ea typeface="+mn-lt"/>
                <a:cs typeface="+mn-lt"/>
              </a:rPr>
              <a:t>AA </a:t>
            </a:r>
            <a:r>
              <a:rPr lang="de-DE" sz="2400">
                <a:ea typeface="+mn-lt"/>
                <a:cs typeface="+mn-lt"/>
              </a:rPr>
              <a:t>(</a:t>
            </a:r>
            <a:r>
              <a:rPr lang="de-DE" sz="2400" err="1">
                <a:ea typeface="+mn-lt"/>
                <a:cs typeface="+mn-lt"/>
              </a:rPr>
              <a:t>Active</a:t>
            </a:r>
            <a:r>
              <a:rPr lang="de-DE" sz="2400">
                <a:ea typeface="+mn-lt"/>
                <a:cs typeface="+mn-lt"/>
              </a:rPr>
              <a:t> Authentication)</a:t>
            </a:r>
            <a:endParaRPr lang="de-DE" sz="2400" b="1">
              <a:latin typeface="Calibri"/>
              <a:ea typeface="Calibri"/>
              <a:cs typeface="Calibri"/>
            </a:endParaRPr>
          </a:p>
          <a:p>
            <a:pPr lvl="1"/>
            <a:r>
              <a:rPr lang="de-DE" sz="1800">
                <a:latin typeface="Calibri"/>
                <a:ea typeface="Calibri"/>
                <a:cs typeface="Calibri"/>
              </a:rPr>
              <a:t>Prüft, ob der Chip </a:t>
            </a:r>
            <a:r>
              <a:rPr lang="de-DE" sz="1800" b="1">
                <a:latin typeface="Calibri"/>
                <a:ea typeface="Calibri"/>
                <a:cs typeface="Calibri"/>
              </a:rPr>
              <a:t>original </a:t>
            </a:r>
            <a:r>
              <a:rPr lang="de-DE" sz="1800">
                <a:latin typeface="Calibri"/>
                <a:ea typeface="Calibri"/>
                <a:cs typeface="Calibri"/>
              </a:rPr>
              <a:t>ist</a:t>
            </a:r>
            <a:endParaRPr lang="de-DE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de-DE" sz="1800">
                <a:latin typeface="Calibri"/>
                <a:ea typeface="Calibri"/>
                <a:cs typeface="Calibri"/>
              </a:rPr>
              <a:t>Challenge-Response Verfahren</a:t>
            </a:r>
            <a:endParaRPr lang="de-DE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de-DE" sz="1800">
                <a:latin typeface="Calibri"/>
                <a:ea typeface="Calibri"/>
                <a:cs typeface="Calibri"/>
              </a:rPr>
              <a:t>Schutz vor </a:t>
            </a:r>
            <a:r>
              <a:rPr lang="de-DE" sz="1800" b="1">
                <a:latin typeface="Calibri"/>
                <a:ea typeface="Calibri"/>
                <a:cs typeface="Calibri"/>
              </a:rPr>
              <a:t>Klonen</a:t>
            </a:r>
            <a:endParaRPr lang="de-DE" sz="1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sz="2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D658029-60D3-CC29-380F-6B40FB8644D3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1D99E3B-9688-B7D0-BE0B-9CCAA3374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9" y="2989397"/>
            <a:ext cx="6050958" cy="149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7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Angriffsablauf: Klon-Angriff via PA (Passive Authentication)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341376" y="1158240"/>
            <a:ext cx="97536" cy="1341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5" name="Text 3"/>
          <p:cNvSpPr/>
          <p:nvPr/>
        </p:nvSpPr>
        <p:spPr>
          <a:xfrm>
            <a:off x="512064" y="115824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Vorbereitung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1376" y="3108960"/>
            <a:ext cx="97536" cy="134112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7" name="Text 5"/>
          <p:cNvSpPr/>
          <p:nvPr/>
        </p:nvSpPr>
        <p:spPr>
          <a:xfrm>
            <a:off x="512064" y="310896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Ausführung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376" y="4998720"/>
            <a:ext cx="97536" cy="13411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9" name="Text 7"/>
          <p:cNvSpPr/>
          <p:nvPr/>
        </p:nvSpPr>
        <p:spPr>
          <a:xfrm>
            <a:off x="512064" y="499872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Ergebnis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552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1" name="Shape 9"/>
          <p:cNvSpPr/>
          <p:nvPr/>
        </p:nvSpPr>
        <p:spPr>
          <a:xfrm>
            <a:off x="225552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2" name="Text 10"/>
          <p:cNvSpPr/>
          <p:nvPr/>
        </p:nvSpPr>
        <p:spPr>
          <a:xfrm>
            <a:off x="2499360" y="1243584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beschafft NFC-Lesegerät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2499360" y="176784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Handelsübliches RFID-Reader-Gerät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76656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5" name="Shape 13"/>
          <p:cNvSpPr/>
          <p:nvPr/>
        </p:nvSpPr>
        <p:spPr>
          <a:xfrm>
            <a:off x="676656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6" name="Text 14"/>
          <p:cNvSpPr/>
          <p:nvPr/>
        </p:nvSpPr>
        <p:spPr>
          <a:xfrm>
            <a:off x="7010400" y="1243584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Opfer kommt in Reichweite (&lt;10 cm)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7010400" y="176784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im Portemonnaie / Rucksack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225552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9" name="Shape 17"/>
          <p:cNvSpPr/>
          <p:nvPr/>
        </p:nvSpPr>
        <p:spPr>
          <a:xfrm>
            <a:off x="225552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0" name="Text 18"/>
          <p:cNvSpPr/>
          <p:nvPr/>
        </p:nvSpPr>
        <p:spPr>
          <a:xfrm>
            <a:off x="2499360" y="3194304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vollständig ausgelesen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2499360" y="371856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SOD, DG1 (MRZ), DG2 (Foto), Signatur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76656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3" name="Shape 21"/>
          <p:cNvSpPr/>
          <p:nvPr/>
        </p:nvSpPr>
        <p:spPr>
          <a:xfrm>
            <a:off x="676656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4" name="Text 22"/>
          <p:cNvSpPr/>
          <p:nvPr/>
        </p:nvSpPr>
        <p:spPr>
          <a:xfrm>
            <a:off x="7010400" y="3194304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auf RFID-Rohling kopiert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7010400" y="371856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Inkl. originaler CSCA-Signatur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225552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7" name="Shape 25"/>
          <p:cNvSpPr/>
          <p:nvPr/>
        </p:nvSpPr>
        <p:spPr>
          <a:xfrm>
            <a:off x="225552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8" name="Text 26"/>
          <p:cNvSpPr/>
          <p:nvPr/>
        </p:nvSpPr>
        <p:spPr>
          <a:xfrm>
            <a:off x="2499360" y="5084064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Grenzlesegerät führt PA-Prüfung durch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2499360" y="560832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 gilt als gültig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76656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31" name="Shape 29"/>
          <p:cNvSpPr/>
          <p:nvPr/>
        </p:nvSpPr>
        <p:spPr>
          <a:xfrm>
            <a:off x="676656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2" name="Text 30"/>
          <p:cNvSpPr/>
          <p:nvPr/>
        </p:nvSpPr>
        <p:spPr>
          <a:xfrm>
            <a:off x="7010400" y="5084064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Geklonter Pass wird akzeptiert</a:t>
            </a:r>
            <a:endParaRPr lang="en-US" sz="1533" dirty="0"/>
          </a:p>
        </p:txBody>
      </p:sp>
      <p:sp>
        <p:nvSpPr>
          <p:cNvPr id="33" name="Text 31"/>
          <p:cNvSpPr/>
          <p:nvPr/>
        </p:nvSpPr>
        <p:spPr>
          <a:xfrm>
            <a:off x="7010400" y="5608320"/>
            <a:ext cx="35356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Nachweis: Original-Chip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156960" y="169468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5" name="Shape 33"/>
          <p:cNvSpPr/>
          <p:nvPr/>
        </p:nvSpPr>
        <p:spPr>
          <a:xfrm>
            <a:off x="6156960" y="364540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6" name="Shape 34"/>
          <p:cNvSpPr/>
          <p:nvPr/>
        </p:nvSpPr>
        <p:spPr>
          <a:xfrm>
            <a:off x="6156960" y="553516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9" name="Shape 37"/>
          <p:cNvSpPr/>
          <p:nvPr/>
        </p:nvSpPr>
        <p:spPr>
          <a:xfrm>
            <a:off x="4206240" y="4230624"/>
            <a:ext cx="4511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de-CH" sz="2400"/>
          </a:p>
        </p:txBody>
      </p:sp>
      <p:sp>
        <p:nvSpPr>
          <p:cNvPr id="40" name="Shape 38"/>
          <p:cNvSpPr/>
          <p:nvPr/>
        </p:nvSpPr>
        <p:spPr>
          <a:xfrm>
            <a:off x="8717280" y="4230624"/>
            <a:ext cx="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77" name="Shape 0">
            <a:extLst>
              <a:ext uri="{FF2B5EF4-FFF2-40B4-BE49-F238E27FC236}">
                <a16:creationId xmlns:a16="http://schemas.microsoft.com/office/drawing/2014/main" id="{27222210-1464-B999-197E-B088A4C4A023}"/>
              </a:ext>
            </a:extLst>
          </p:cNvPr>
          <p:cNvSpPr/>
          <p:nvPr/>
        </p:nvSpPr>
        <p:spPr>
          <a:xfrm>
            <a:off x="0" y="6760464"/>
            <a:ext cx="12192000" cy="97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Skimming — Unautorisiertes Auslesen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341376" y="1158240"/>
            <a:ext cx="97536" cy="1341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5" name="Text 3"/>
          <p:cNvSpPr/>
          <p:nvPr/>
        </p:nvSpPr>
        <p:spPr>
          <a:xfrm>
            <a:off x="512064" y="115824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Vorbereitung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1376" y="3108960"/>
            <a:ext cx="97536" cy="134112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7" name="Text 5"/>
          <p:cNvSpPr/>
          <p:nvPr/>
        </p:nvSpPr>
        <p:spPr>
          <a:xfrm>
            <a:off x="512064" y="310896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Ausführung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376" y="4998720"/>
            <a:ext cx="97536" cy="13411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9" name="Text 7"/>
          <p:cNvSpPr/>
          <p:nvPr/>
        </p:nvSpPr>
        <p:spPr>
          <a:xfrm>
            <a:off x="512064" y="499872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Ergebnis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552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1" name="Shape 9"/>
          <p:cNvSpPr/>
          <p:nvPr/>
        </p:nvSpPr>
        <p:spPr>
          <a:xfrm>
            <a:off x="225552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2" name="Text 10"/>
          <p:cNvSpPr/>
          <p:nvPr/>
        </p:nvSpPr>
        <p:spPr>
          <a:xfrm>
            <a:off x="2499360" y="124358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beschafft verstecktes NFC-Lesegerät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2499360" y="181660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Z.B. im Rucksack / Tasche versteckt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76656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5" name="Shape 13"/>
          <p:cNvSpPr/>
          <p:nvPr/>
        </p:nvSpPr>
        <p:spPr>
          <a:xfrm>
            <a:off x="676656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6" name="Text 14"/>
          <p:cNvSpPr/>
          <p:nvPr/>
        </p:nvSpPr>
        <p:spPr>
          <a:xfrm>
            <a:off x="7010400" y="124358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Opfer trägt Pass ohne RF-Abschirmung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7010400" y="181660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RFID-Schutzetui vorhanden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225552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9" name="Shape 17"/>
          <p:cNvSpPr/>
          <p:nvPr/>
        </p:nvSpPr>
        <p:spPr>
          <a:xfrm>
            <a:off x="225552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0" name="Text 18"/>
          <p:cNvSpPr/>
          <p:nvPr/>
        </p:nvSpPr>
        <p:spPr>
          <a:xfrm>
            <a:off x="2499360" y="319430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nähert sich auf &lt;10 cm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2499360" y="376732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Öffentlicher Ort: Zug, Warteschlange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76656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3" name="Shape 21"/>
          <p:cNvSpPr/>
          <p:nvPr/>
        </p:nvSpPr>
        <p:spPr>
          <a:xfrm>
            <a:off x="676656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4" name="Text 22"/>
          <p:cNvSpPr/>
          <p:nvPr/>
        </p:nvSpPr>
        <p:spPr>
          <a:xfrm>
            <a:off x="7010400" y="319430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NFC-</a:t>
            </a:r>
            <a:r>
              <a:rPr lang="en-US" sz="15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</a:t>
            </a:r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33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wird</a:t>
            </a:r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aufgebaut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7010400" y="376732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Interaktion mit Opfer nötig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225552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7" name="Shape 25"/>
          <p:cNvSpPr/>
          <p:nvPr/>
        </p:nvSpPr>
        <p:spPr>
          <a:xfrm>
            <a:off x="225552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8" name="Text 26"/>
          <p:cNvSpPr/>
          <p:nvPr/>
        </p:nvSpPr>
        <p:spPr>
          <a:xfrm>
            <a:off x="2499360" y="508406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MRZ-Daten &amp; Gesichtsbild ausgelesen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2499360" y="565708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DG1 (Name, Geburtsdatum), DG2 (Foto)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76656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31" name="Shape 29"/>
          <p:cNvSpPr/>
          <p:nvPr/>
        </p:nvSpPr>
        <p:spPr>
          <a:xfrm>
            <a:off x="676656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2" name="Text 30"/>
          <p:cNvSpPr/>
          <p:nvPr/>
        </p:nvSpPr>
        <p:spPr>
          <a:xfrm>
            <a:off x="7010400" y="508406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für Identitätsdiebstahl nutzbar</a:t>
            </a:r>
            <a:endParaRPr lang="en-US" sz="1533" dirty="0"/>
          </a:p>
        </p:txBody>
      </p:sp>
      <p:sp>
        <p:nvSpPr>
          <p:cNvPr id="33" name="Text 31"/>
          <p:cNvSpPr/>
          <p:nvPr/>
        </p:nvSpPr>
        <p:spPr>
          <a:xfrm>
            <a:off x="7010400" y="565708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Opfer bemerkt den Angriff nicht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156960" y="169468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5" name="Shape 33"/>
          <p:cNvSpPr/>
          <p:nvPr/>
        </p:nvSpPr>
        <p:spPr>
          <a:xfrm>
            <a:off x="6156960" y="364540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8" name="Shape 36"/>
          <p:cNvSpPr/>
          <p:nvPr/>
        </p:nvSpPr>
        <p:spPr>
          <a:xfrm>
            <a:off x="4206240" y="4230624"/>
            <a:ext cx="4511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de-CH" sz="2400"/>
          </a:p>
        </p:txBody>
      </p:sp>
      <p:sp>
        <p:nvSpPr>
          <p:cNvPr id="40" name="Shape 38"/>
          <p:cNvSpPr/>
          <p:nvPr/>
        </p:nvSpPr>
        <p:spPr>
          <a:xfrm>
            <a:off x="0" y="6736080"/>
            <a:ext cx="12192000" cy="12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2B625197-0697-16DA-A138-039EC3DD1E6C}"/>
              </a:ext>
            </a:extLst>
          </p:cNvPr>
          <p:cNvSpPr/>
          <p:nvPr/>
        </p:nvSpPr>
        <p:spPr>
          <a:xfrm>
            <a:off x="6156960" y="5623560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Relay-Angriff — Weiterleitung der NFC-Kommunikation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1376" y="1158240"/>
            <a:ext cx="97536" cy="1341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5" name="Text 3"/>
          <p:cNvSpPr/>
          <p:nvPr/>
        </p:nvSpPr>
        <p:spPr>
          <a:xfrm>
            <a:off x="512064" y="115824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Vorbereitung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1376" y="3108960"/>
            <a:ext cx="97536" cy="134112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7" name="Text 5"/>
          <p:cNvSpPr/>
          <p:nvPr/>
        </p:nvSpPr>
        <p:spPr>
          <a:xfrm>
            <a:off x="512064" y="310896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Ausführung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376" y="4998720"/>
            <a:ext cx="97536" cy="13411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9" name="Text 7"/>
          <p:cNvSpPr/>
          <p:nvPr/>
        </p:nvSpPr>
        <p:spPr>
          <a:xfrm>
            <a:off x="512064" y="499872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Ergebnis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552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1" name="Shape 9"/>
          <p:cNvSpPr/>
          <p:nvPr/>
        </p:nvSpPr>
        <p:spPr>
          <a:xfrm>
            <a:off x="225552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2" name="Text 10"/>
          <p:cNvSpPr/>
          <p:nvPr/>
        </p:nvSpPr>
        <p:spPr>
          <a:xfrm>
            <a:off x="2499360" y="124358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A: NFC-Proxy nahe Opfer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2499360" y="181660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Verstecktes Lesegerät in der Nähe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76656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5" name="Shape 13"/>
          <p:cNvSpPr/>
          <p:nvPr/>
        </p:nvSpPr>
        <p:spPr>
          <a:xfrm>
            <a:off x="676656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6" name="Text 14"/>
          <p:cNvSpPr/>
          <p:nvPr/>
        </p:nvSpPr>
        <p:spPr>
          <a:xfrm>
            <a:off x="7010400" y="124358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B: Proxy am Grenzlesegerät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7010400" y="181660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NFC-Emulator steht am Kontrollpunkt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225552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9" name="Shape 17"/>
          <p:cNvSpPr/>
          <p:nvPr/>
        </p:nvSpPr>
        <p:spPr>
          <a:xfrm>
            <a:off x="225552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0" name="Text 18"/>
          <p:cNvSpPr/>
          <p:nvPr/>
        </p:nvSpPr>
        <p:spPr>
          <a:xfrm>
            <a:off x="2499360" y="319430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liest Challenge vom Pass des Opfers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2499360" y="376732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PACE/BA Challenge-Response gestartet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76656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3" name="Shape 21"/>
          <p:cNvSpPr/>
          <p:nvPr/>
        </p:nvSpPr>
        <p:spPr>
          <a:xfrm>
            <a:off x="676656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4" name="Text 22"/>
          <p:cNvSpPr/>
          <p:nvPr/>
        </p:nvSpPr>
        <p:spPr>
          <a:xfrm>
            <a:off x="7010400" y="319430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leitet Challenge ans Grenzlesegerät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7010400" y="376732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 in Echtzeit weitergeleitet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225552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7" name="Shape 25"/>
          <p:cNvSpPr/>
          <p:nvPr/>
        </p:nvSpPr>
        <p:spPr>
          <a:xfrm>
            <a:off x="225552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8" name="Text 26"/>
          <p:cNvSpPr/>
          <p:nvPr/>
        </p:nvSpPr>
        <p:spPr>
          <a:xfrm>
            <a:off x="2499360" y="508406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Grenzlesegerät authentifiziert erfolgreich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2499360" y="565708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Antwortet auf Originalpass des Opfers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76656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31" name="Shape 29"/>
          <p:cNvSpPr/>
          <p:nvPr/>
        </p:nvSpPr>
        <p:spPr>
          <a:xfrm>
            <a:off x="676656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2" name="Text 30"/>
          <p:cNvSpPr/>
          <p:nvPr/>
        </p:nvSpPr>
        <p:spPr>
          <a:xfrm>
            <a:off x="7010400" y="508406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 wird passiert — ohne echten Pass</a:t>
            </a:r>
            <a:endParaRPr lang="en-US" sz="1533" dirty="0"/>
          </a:p>
        </p:txBody>
      </p:sp>
      <p:sp>
        <p:nvSpPr>
          <p:cNvPr id="33" name="Text 31"/>
          <p:cNvSpPr/>
          <p:nvPr/>
        </p:nvSpPr>
        <p:spPr>
          <a:xfrm>
            <a:off x="7010400" y="565708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Weder PACE noch CA verhindern dies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156960" y="169468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5" name="Shape 33"/>
          <p:cNvSpPr/>
          <p:nvPr/>
        </p:nvSpPr>
        <p:spPr>
          <a:xfrm>
            <a:off x="6156960" y="364540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6" name="Shape 34"/>
          <p:cNvSpPr/>
          <p:nvPr/>
        </p:nvSpPr>
        <p:spPr>
          <a:xfrm>
            <a:off x="6156960" y="553516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8" name="Shape 36"/>
          <p:cNvSpPr/>
          <p:nvPr/>
        </p:nvSpPr>
        <p:spPr>
          <a:xfrm>
            <a:off x="4206240" y="4230624"/>
            <a:ext cx="4511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de-CH" sz="2400"/>
          </a:p>
        </p:txBody>
      </p:sp>
      <p:sp>
        <p:nvSpPr>
          <p:cNvPr id="40" name="Shape 38"/>
          <p:cNvSpPr/>
          <p:nvPr/>
        </p:nvSpPr>
        <p:spPr>
          <a:xfrm>
            <a:off x="0" y="6736080"/>
            <a:ext cx="12192000" cy="12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Gesichts-Spoofing — Täuschung der Gesichtserkennung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1376" y="1158240"/>
            <a:ext cx="97536" cy="1341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5" name="Text 3"/>
          <p:cNvSpPr/>
          <p:nvPr/>
        </p:nvSpPr>
        <p:spPr>
          <a:xfrm>
            <a:off x="512064" y="115824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Vorbereitung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1376" y="3108960"/>
            <a:ext cx="97536" cy="134112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7" name="Text 5"/>
          <p:cNvSpPr/>
          <p:nvPr/>
        </p:nvSpPr>
        <p:spPr>
          <a:xfrm>
            <a:off x="512064" y="310896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Ausführung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376" y="4998720"/>
            <a:ext cx="97536" cy="13411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9" name="Text 7"/>
          <p:cNvSpPr/>
          <p:nvPr/>
        </p:nvSpPr>
        <p:spPr>
          <a:xfrm>
            <a:off x="512064" y="4998720"/>
            <a:ext cx="15849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Ergebnis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5552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1" name="Shape 9"/>
          <p:cNvSpPr/>
          <p:nvPr/>
        </p:nvSpPr>
        <p:spPr>
          <a:xfrm>
            <a:off x="225552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2" name="Text 10"/>
          <p:cNvSpPr/>
          <p:nvPr/>
        </p:nvSpPr>
        <p:spPr>
          <a:xfrm>
            <a:off x="2499360" y="124358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beschafft Foto des Opfers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2499360" y="181660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Ausweis-Scan, öffentl. Quellen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766560" y="112166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5" name="Shape 13"/>
          <p:cNvSpPr/>
          <p:nvPr/>
        </p:nvSpPr>
        <p:spPr>
          <a:xfrm>
            <a:off x="6766560" y="1121664"/>
            <a:ext cx="97536" cy="1158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16" name="Text 14"/>
          <p:cNvSpPr/>
          <p:nvPr/>
        </p:nvSpPr>
        <p:spPr>
          <a:xfrm>
            <a:off x="7010400" y="124358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Hochauflösendes Bild / 3D-Maske erstellt</a:t>
            </a:r>
            <a:endParaRPr lang="en-US" sz="1533" dirty="0"/>
          </a:p>
        </p:txBody>
      </p:sp>
      <p:sp>
        <p:nvSpPr>
          <p:cNvPr id="17" name="Text 15"/>
          <p:cNvSpPr/>
          <p:nvPr/>
        </p:nvSpPr>
        <p:spPr>
          <a:xfrm>
            <a:off x="7010400" y="181660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 oder Silikon-Replikat des Gesichts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225552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19" name="Shape 17"/>
          <p:cNvSpPr/>
          <p:nvPr/>
        </p:nvSpPr>
        <p:spPr>
          <a:xfrm>
            <a:off x="225552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0" name="Text 18"/>
          <p:cNvSpPr/>
          <p:nvPr/>
        </p:nvSpPr>
        <p:spPr>
          <a:xfrm>
            <a:off x="2499360" y="319430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nähert sich Grenzkontrolle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2499360" y="376732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Pass des Opfers in der Hand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766560" y="307238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3" name="Shape 21"/>
          <p:cNvSpPr/>
          <p:nvPr/>
        </p:nvSpPr>
        <p:spPr>
          <a:xfrm>
            <a:off x="6766560" y="3072384"/>
            <a:ext cx="97536" cy="115824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4" name="Text 22"/>
          <p:cNvSpPr/>
          <p:nvPr/>
        </p:nvSpPr>
        <p:spPr>
          <a:xfrm>
            <a:off x="7010400" y="319430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/ Maske vor Kamera gehalten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7010400" y="376732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ohne Liveness Detection prüft nur Bild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225552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27" name="Shape 25"/>
          <p:cNvSpPr/>
          <p:nvPr/>
        </p:nvSpPr>
        <p:spPr>
          <a:xfrm>
            <a:off x="225552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28" name="Text 26"/>
          <p:cNvSpPr/>
          <p:nvPr/>
        </p:nvSpPr>
        <p:spPr>
          <a:xfrm>
            <a:off x="2499360" y="508406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Gesichtserkennung schlägt Alarm nicht an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2499360" y="565708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Biometrischer Abgleich: Treffer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766560" y="4962144"/>
            <a:ext cx="3901440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CH" sz="2400"/>
          </a:p>
        </p:txBody>
      </p:sp>
      <p:sp>
        <p:nvSpPr>
          <p:cNvPr id="31" name="Shape 29"/>
          <p:cNvSpPr/>
          <p:nvPr/>
        </p:nvSpPr>
        <p:spPr>
          <a:xfrm>
            <a:off x="6766560" y="4962144"/>
            <a:ext cx="97536" cy="1158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  <p:sp>
        <p:nvSpPr>
          <p:cNvPr id="32" name="Text 30"/>
          <p:cNvSpPr/>
          <p:nvPr/>
        </p:nvSpPr>
        <p:spPr>
          <a:xfrm>
            <a:off x="7010400" y="5084064"/>
            <a:ext cx="3535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unter fremder Identität gewährt</a:t>
            </a:r>
            <a:endParaRPr lang="en-US" sz="1533" dirty="0"/>
          </a:p>
        </p:txBody>
      </p:sp>
      <p:sp>
        <p:nvSpPr>
          <p:cNvPr id="33" name="Text 31"/>
          <p:cNvSpPr/>
          <p:nvPr/>
        </p:nvSpPr>
        <p:spPr>
          <a:xfrm>
            <a:off x="7010400" y="5657088"/>
            <a:ext cx="35356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E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Detection hätte dies verhindert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156960" y="169468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5" name="Shape 33"/>
          <p:cNvSpPr/>
          <p:nvPr/>
        </p:nvSpPr>
        <p:spPr>
          <a:xfrm>
            <a:off x="6156960" y="364540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6" name="Shape 34"/>
          <p:cNvSpPr/>
          <p:nvPr/>
        </p:nvSpPr>
        <p:spPr>
          <a:xfrm>
            <a:off x="6156960" y="5535168"/>
            <a:ext cx="609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  <p:txBody>
          <a:bodyPr/>
          <a:lstStyle/>
          <a:p>
            <a:endParaRPr lang="de-CH" sz="2400"/>
          </a:p>
        </p:txBody>
      </p:sp>
      <p:sp>
        <p:nvSpPr>
          <p:cNvPr id="38" name="Shape 36"/>
          <p:cNvSpPr/>
          <p:nvPr/>
        </p:nvSpPr>
        <p:spPr>
          <a:xfrm>
            <a:off x="4206240" y="4230624"/>
            <a:ext cx="4511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de-CH" sz="2400"/>
          </a:p>
        </p:txBody>
      </p:sp>
      <p:sp>
        <p:nvSpPr>
          <p:cNvPr id="40" name="Shape 38"/>
          <p:cNvSpPr/>
          <p:nvPr/>
        </p:nvSpPr>
        <p:spPr>
          <a:xfrm>
            <a:off x="0" y="6736080"/>
            <a:ext cx="12192000" cy="12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de-CH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4B9A-FD07-3BD4-2755-56733F42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65457-6B45-742C-A152-462F91E2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50" b="1" dirty="0">
                <a:ea typeface="+mj-lt"/>
                <a:cs typeface="+mj-lt"/>
              </a:rPr>
              <a:t>Technischer Schutz</a:t>
            </a:r>
            <a:endParaRPr lang="en-US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E31701-979A-1C7F-DCF5-5E1D40D27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437" y="1642904"/>
            <a:ext cx="521924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 (Chip Authentication)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prüft echten Chip 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verhindert Klonen </a:t>
            </a:r>
          </a:p>
          <a:p>
            <a:pPr marL="0" indent="0">
              <a:buNone/>
            </a:pP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PACE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ersetzt BAC 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verschlüsselte Verbindung </a:t>
            </a:r>
          </a:p>
          <a:p>
            <a:pPr marL="0" indent="0">
              <a:buNone/>
            </a:pPr>
            <a:r>
              <a:rPr lang="de-DE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</a:t>
            </a: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Bounding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erkennt Relay-Angriffe </a:t>
            </a:r>
          </a:p>
          <a:p>
            <a:pPr marL="0" indent="0">
              <a:buNone/>
            </a:pPr>
            <a:r>
              <a:rPr lang="de-DE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Liveness</a:t>
            </a: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Detection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erkennt echte Person</a:t>
            </a:r>
          </a:p>
          <a:p>
            <a:endParaRPr lang="de-DE" sz="2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1F3C10E-2F64-D267-FE78-9357D73593B3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40D83889-006E-B4B8-F874-908A36E89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7" t="26839" r="4412" b="29044"/>
          <a:stretch>
            <a:fillRect/>
          </a:stretch>
        </p:blipFill>
        <p:spPr>
          <a:xfrm>
            <a:off x="4737092" y="2366969"/>
            <a:ext cx="6602295" cy="212406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D062099-9A98-CD84-36A7-971D85A82CC3}"/>
              </a:ext>
            </a:extLst>
          </p:cNvPr>
          <p:cNvSpPr txBox="1"/>
          <p:nvPr/>
        </p:nvSpPr>
        <p:spPr>
          <a:xfrm>
            <a:off x="4942527" y="2535653"/>
            <a:ext cx="17993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b="1" dirty="0">
                <a:latin typeface="Arial" panose="020B0604020202020204" pitchFamily="34" charset="0"/>
                <a:cs typeface="Arial" panose="020B0604020202020204" pitchFamily="34" charset="0"/>
              </a:rPr>
              <a:t>Vorbereitung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61B161E-6C16-303D-A0AE-52A10B74AEF5}"/>
              </a:ext>
            </a:extLst>
          </p:cNvPr>
          <p:cNvSpPr txBox="1"/>
          <p:nvPr/>
        </p:nvSpPr>
        <p:spPr>
          <a:xfrm>
            <a:off x="6741828" y="2535652"/>
            <a:ext cx="262521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b="1" dirty="0">
                <a:latin typeface="Arial" panose="020B0604020202020204" pitchFamily="34" charset="0"/>
                <a:cs typeface="Arial" panose="020B0604020202020204" pitchFamily="34" charset="0"/>
              </a:rPr>
              <a:t>Schutzmechanismus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C101016-EA53-7D2B-9590-3822DAB110CF}"/>
              </a:ext>
            </a:extLst>
          </p:cNvPr>
          <p:cNvSpPr txBox="1"/>
          <p:nvPr/>
        </p:nvSpPr>
        <p:spPr>
          <a:xfrm>
            <a:off x="9367041" y="2535651"/>
            <a:ext cx="17993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b="1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F9CB3F3-4110-35C3-B534-BEA9AA26BDAA}"/>
              </a:ext>
            </a:extLst>
          </p:cNvPr>
          <p:cNvSpPr txBox="1"/>
          <p:nvPr/>
        </p:nvSpPr>
        <p:spPr>
          <a:xfrm>
            <a:off x="4751505" y="4467353"/>
            <a:ext cx="19903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  <a:t>Angreifer versucht Zugriff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E4743B6-62AF-D79B-1566-4FDA4CA6ECC9}"/>
              </a:ext>
            </a:extLst>
          </p:cNvPr>
          <p:cNvSpPr txBox="1"/>
          <p:nvPr/>
        </p:nvSpPr>
        <p:spPr>
          <a:xfrm>
            <a:off x="7043077" y="4467353"/>
            <a:ext cx="19903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  <a:t>PACE / CA</a:t>
            </a:r>
            <a:b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  <a:t>aktiv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F59B819-7F0C-998D-FD7F-F5358B9772F8}"/>
              </a:ext>
            </a:extLst>
          </p:cNvPr>
          <p:cNvSpPr txBox="1"/>
          <p:nvPr/>
        </p:nvSpPr>
        <p:spPr>
          <a:xfrm>
            <a:off x="9363476" y="4491030"/>
            <a:ext cx="199032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  <a:t>Zugriff blockiert</a:t>
            </a:r>
          </a:p>
        </p:txBody>
      </p:sp>
    </p:spTree>
    <p:extLst>
      <p:ext uri="{BB962C8B-B14F-4D97-AF65-F5344CB8AC3E}">
        <p14:creationId xmlns:p14="http://schemas.microsoft.com/office/powerpoint/2010/main" val="3198762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6648-9470-9324-6A85-CA294ACB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C067C84-AAB4-1B94-0378-83E41D897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655" y="1003412"/>
            <a:ext cx="7323167" cy="488211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79077B9-1B8D-54D4-BD30-C916FAA8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50" b="1" dirty="0" err="1">
                <a:ea typeface="+mj-lt"/>
                <a:cs typeface="+mj-lt"/>
              </a:rPr>
              <a:t>Sicherheitsmassnahmen</a:t>
            </a:r>
            <a:r>
              <a:rPr lang="de-DE" sz="3450" b="1" dirty="0">
                <a:ea typeface="+mj-lt"/>
                <a:cs typeface="+mj-lt"/>
              </a:rPr>
              <a:t> </a:t>
            </a:r>
            <a:endParaRPr lang="en-US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80C590-0EA1-DCBB-2766-4C1646A91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437" y="1642904"/>
            <a:ext cx="521924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Datenschutz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Datenminimierung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Dezentrale Speicherung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Zugriffskontrolle</a:t>
            </a:r>
          </a:p>
          <a:p>
            <a:pPr marL="0" indent="0">
              <a:buNone/>
            </a:pP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Wichtige Erkenntnis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Mechanismus allein reicht nicht</a:t>
            </a:r>
          </a:p>
          <a:p>
            <a:r>
              <a:rPr lang="de-DE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Kombination notwendig </a:t>
            </a:r>
          </a:p>
          <a:p>
            <a:pPr marL="0" indent="0">
              <a:buNone/>
            </a:pPr>
            <a:r>
              <a:rPr lang="de-DE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Grösstes</a:t>
            </a:r>
            <a:r>
              <a:rPr lang="de-DE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Risiko</a:t>
            </a:r>
          </a:p>
          <a:p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Infrastruktur (z.B. Datenbanken)</a:t>
            </a:r>
          </a:p>
          <a:p>
            <a:r>
              <a:rPr lang="de-D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Nicht nur der Pass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49AC23D-82BA-580E-4ED0-C7A9227F46AA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5FB240AF-695C-20CA-2F78-B7E5AE57E9BE}"/>
              </a:ext>
            </a:extLst>
          </p:cNvPr>
          <p:cNvSpPr txBox="1"/>
          <p:nvPr/>
        </p:nvSpPr>
        <p:spPr>
          <a:xfrm>
            <a:off x="4844784" y="2449832"/>
            <a:ext cx="17993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b="1" dirty="0">
                <a:latin typeface="Arial" panose="020B0604020202020204" pitchFamily="34" charset="0"/>
                <a:cs typeface="Arial" panose="020B0604020202020204" pitchFamily="34" charset="0"/>
              </a:rPr>
              <a:t>Vorbereitung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D783F4F-C4A9-876C-3884-3C0160051AB0}"/>
              </a:ext>
            </a:extLst>
          </p:cNvPr>
          <p:cNvSpPr txBox="1"/>
          <p:nvPr/>
        </p:nvSpPr>
        <p:spPr>
          <a:xfrm>
            <a:off x="6741829" y="2449832"/>
            <a:ext cx="262521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Schutzmassnahmen</a:t>
            </a:r>
            <a:endParaRPr lang="de-DE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8F0323D-3BAB-2A0D-4DDF-377E29CE62DC}"/>
              </a:ext>
            </a:extLst>
          </p:cNvPr>
          <p:cNvSpPr txBox="1"/>
          <p:nvPr/>
        </p:nvSpPr>
        <p:spPr>
          <a:xfrm>
            <a:off x="9363476" y="2467528"/>
            <a:ext cx="179930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b="1" dirty="0"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9D676E5-0495-3090-5E57-2756671B69A2}"/>
              </a:ext>
            </a:extLst>
          </p:cNvPr>
          <p:cNvSpPr txBox="1"/>
          <p:nvPr/>
        </p:nvSpPr>
        <p:spPr>
          <a:xfrm>
            <a:off x="4751505" y="4467353"/>
            <a:ext cx="19903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  <a:t>System / </a:t>
            </a:r>
            <a:r>
              <a:rPr lang="de-DE" sz="1900" dirty="0" err="1">
                <a:latin typeface="Arial" panose="020B0604020202020204" pitchFamily="34" charset="0"/>
                <a:cs typeface="Arial" panose="020B0604020202020204" pitchFamily="34" charset="0"/>
              </a:rPr>
              <a:t>Datenbanlk</a:t>
            </a:r>
            <a:endParaRPr lang="de-DE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69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7618-1236-17F4-8A5F-A9475392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17F02-A194-75BB-1D00-913BEF9B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/>
          </a:bodyPr>
          <a:lstStyle/>
          <a:p>
            <a:pPr algn="ctr"/>
            <a:r>
              <a:rPr lang="de-DE" sz="3450" b="1" dirty="0">
                <a:ea typeface="+mj-lt"/>
                <a:cs typeface="+mj-lt"/>
              </a:rPr>
              <a:t>Fragen?</a:t>
            </a:r>
            <a:endParaRPr lang="en-US" b="1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60F8E6E-E14E-3BB3-FE34-16B283E3848C}"/>
              </a:ext>
            </a:extLst>
          </p:cNvPr>
          <p:cNvCxnSpPr>
            <a:cxnSpLocks/>
          </p:cNvCxnSpPr>
          <p:nvPr/>
        </p:nvCxnSpPr>
        <p:spPr>
          <a:xfrm flipH="1">
            <a:off x="178025" y="1112130"/>
            <a:ext cx="1182246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28E0402-3364-28B1-04E0-A31671E35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191431"/>
            <a:ext cx="10208342" cy="9855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000" b="1" dirty="0"/>
              <a:t>Vielen Dank!!!!!</a:t>
            </a:r>
          </a:p>
        </p:txBody>
      </p:sp>
    </p:spTree>
    <p:extLst>
      <p:ext uri="{BB962C8B-B14F-4D97-AF65-F5344CB8AC3E}">
        <p14:creationId xmlns:p14="http://schemas.microsoft.com/office/powerpoint/2010/main" val="3111793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Macintosh PowerPoint</Application>
  <PresentationFormat>Breitbild</PresentationFormat>
  <Paragraphs>166</Paragraphs>
  <Slides>12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</vt:lpstr>
      <vt:lpstr>PowerPoint-Präsentation</vt:lpstr>
      <vt:lpstr>E-Pass Standard – Grundlagen &amp; Datenstruktur</vt:lpstr>
      <vt:lpstr>E-Pass Standard – Sicherheitsmechanismen</vt:lpstr>
      <vt:lpstr>Simulation der Authentifizierungsschritte</vt:lpstr>
      <vt:lpstr>Erweiterte Sicherheit</vt:lpstr>
      <vt:lpstr>PowerPoint-Präsentation</vt:lpstr>
      <vt:lpstr>PowerPoint-Präsentation</vt:lpstr>
      <vt:lpstr>PowerPoint-Präsentation</vt:lpstr>
      <vt:lpstr>PowerPoint-Präsentation</vt:lpstr>
      <vt:lpstr>Technischer Schutz</vt:lpstr>
      <vt:lpstr>Sicherheitsmassnahmen 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Bagaric Vjekoslav I.BSCICS.2401</dc:creator>
  <cp:lastModifiedBy>Poovathumveettil Michael I.BSCICS.2501</cp:lastModifiedBy>
  <cp:revision>5</cp:revision>
  <dcterms:created xsi:type="dcterms:W3CDTF">2026-04-12T07:19:17Z</dcterms:created>
  <dcterms:modified xsi:type="dcterms:W3CDTF">2026-04-12T21:55:07Z</dcterms:modified>
</cp:coreProperties>
</file>